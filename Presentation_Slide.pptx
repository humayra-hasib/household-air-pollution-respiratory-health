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E8E54FC-C2D5-4DAA-9BAB-BAF1B375A1AF}">
          <p14:sldIdLst>
            <p14:sldId id="256"/>
            <p14:sldId id="257"/>
            <p14:sldId id="258"/>
            <p14:sldId id="259"/>
            <p14:sldId id="260"/>
            <p14:sldId id="261"/>
            <p14:sldId id="262"/>
            <p14:sldId id="263"/>
            <p14:sldId id="264"/>
            <p14:sldId id="265"/>
            <p14:sldId id="266"/>
          </p14:sldIdLst>
        </p14:section>
        <p14:section name="Untitled Section" id="{BB5CFFAD-F9FC-4A5F-B22E-C9B7C6E3094C}">
          <p14:sldIdLst>
            <p14:sldId id="267"/>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7" d="100"/>
          <a:sy n="107" d="100"/>
        </p:scale>
        <p:origin x="-1650"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903D4359-714B-473A-B0A7-76D2E03E79D2}" type="datetimeFigureOut">
              <a:rPr lang="en-US" smtClean="0"/>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075D05B5-DDE9-4DC4-8482-C5D2E115C874}" type="slidenum">
              <a:rPr lang="en-US" smtClean="0"/>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03D4359-714B-473A-B0A7-76D2E03E79D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5D05B5-DDE9-4DC4-8482-C5D2E115C87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903D4359-714B-473A-B0A7-76D2E03E79D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5D05B5-DDE9-4DC4-8482-C5D2E115C874}" type="slidenum">
              <a:rPr lang="en-US" smtClean="0"/>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03D4359-714B-473A-B0A7-76D2E03E79D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5D05B5-DDE9-4DC4-8482-C5D2E115C87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903D4359-714B-473A-B0A7-76D2E03E79D2}"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5D05B5-DDE9-4DC4-8482-C5D2E115C87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03D4359-714B-473A-B0A7-76D2E03E79D2}"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5D05B5-DDE9-4DC4-8482-C5D2E115C87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903D4359-714B-473A-B0A7-76D2E03E79D2}"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5D05B5-DDE9-4DC4-8482-C5D2E115C874}" type="slidenum">
              <a:rPr lang="en-US" smtClean="0"/>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903D4359-714B-473A-B0A7-76D2E03E79D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5D05B5-DDE9-4DC4-8482-C5D2E115C87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903D4359-714B-473A-B0A7-76D2E03E79D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5D05B5-DDE9-4DC4-8482-C5D2E115C874}" type="slidenum">
              <a:rPr lang="en-US" smtClean="0"/>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210" algn="l" rtl="0" eaLnBrk="1" latinLnBrk="0" hangingPunct="1">
              <a:lnSpc>
                <a:spcPts val="3000"/>
              </a:lnSpc>
              <a:spcBef>
                <a:spcPts val="600"/>
              </a:spcBef>
              <a:buClr>
                <a:schemeClr val="accent1"/>
              </a:buClr>
              <a:buSzPct val="80000"/>
              <a:buFont typeface="Wingdings 2" panose="05020102010507070707"/>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03D4359-714B-473A-B0A7-76D2E03E79D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5D05B5-DDE9-4DC4-8482-C5D2E115C87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03D4359-714B-473A-B0A7-76D2E03E79D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5D05B5-DDE9-4DC4-8482-C5D2E115C874}"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fld id="{903D4359-714B-473A-B0A7-76D2E03E79D2}" type="datetimeFigureOut">
              <a:rPr lang="en-US" smtClean="0"/>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lstStyle>
          <a:p>
            <a:fld id="{075D05B5-DDE9-4DC4-8482-C5D2E115C874}" type="slidenum">
              <a:rPr lang="en-US" smtClean="0"/>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panose="05020102010507070707"/>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panose="05020102010507070707"/>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panose="05020102010507070707"/>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panose="05020102010507070707"/>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panose="05020102010507070707"/>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1752600"/>
            <a:ext cx="7406640" cy="3048000"/>
          </a:xfrm>
        </p:spPr>
        <p:txBody>
          <a:bodyPr>
            <a:normAutofit fontScale="90000"/>
          </a:bodyPr>
          <a:lstStyle/>
          <a:p>
            <a:pPr algn="ctr"/>
            <a:r>
              <a:rPr lang="en-US" sz="6000" b="1" dirty="0" smtClean="0"/>
              <a:t>Welcome!</a:t>
            </a:r>
            <a:br>
              <a:rPr lang="en-US" sz="6000" b="1" dirty="0" smtClean="0"/>
            </a:br>
            <a:br>
              <a:rPr lang="en-US" sz="4400" b="1" dirty="0" smtClean="0"/>
            </a:br>
            <a:r>
              <a:rPr lang="en-US" sz="4400" b="1" dirty="0" smtClean="0"/>
              <a:t>Air Pollution causes Respiratory Health Problem.</a:t>
            </a:r>
            <a:endParaRPr lang="en-US" sz="4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1219200"/>
            <a:ext cx="7406640" cy="1219200"/>
          </a:xfrm>
        </p:spPr>
        <p:txBody>
          <a:bodyPr>
            <a:normAutofit/>
          </a:bodyPr>
          <a:lstStyle/>
          <a:p>
            <a:pPr algn="ctr"/>
            <a:r>
              <a:rPr lang="en-US" sz="4400" b="1" dirty="0" smtClean="0"/>
              <a:t>Our Team</a:t>
            </a:r>
            <a:endParaRPr lang="en-US" sz="4400" b="1" dirty="0"/>
          </a:p>
        </p:txBody>
      </p:sp>
      <p:graphicFrame>
        <p:nvGraphicFramePr>
          <p:cNvPr id="5" name="Table 4"/>
          <p:cNvGraphicFramePr>
            <a:graphicFrameLocks noGrp="1"/>
          </p:cNvGraphicFramePr>
          <p:nvPr/>
        </p:nvGraphicFramePr>
        <p:xfrm>
          <a:off x="1981200" y="3124200"/>
          <a:ext cx="6096000" cy="1483360"/>
        </p:xfrm>
        <a:graphic>
          <a:graphicData uri="http://schemas.openxmlformats.org/drawingml/2006/table">
            <a:tbl>
              <a:tblPr firstRow="1" bandRow="1">
                <a:tableStyleId>{5C22544A-7EE6-4342-B048-85BDC9FD1C3A}</a:tableStyleId>
              </a:tblPr>
              <a:tblGrid>
                <a:gridCol w="3048000"/>
                <a:gridCol w="3048000"/>
              </a:tblGrid>
              <a:tr h="370840">
                <a:tc>
                  <a:txBody>
                    <a:bodyPr/>
                    <a:lstStyle/>
                    <a:p>
                      <a:r>
                        <a:rPr lang="en-US" dirty="0" smtClean="0"/>
                        <a:t>Name</a:t>
                      </a:r>
                      <a:endParaRPr lang="en-US" dirty="0"/>
                    </a:p>
                  </a:txBody>
                  <a:tcPr/>
                </a:tc>
                <a:tc>
                  <a:txBody>
                    <a:bodyPr/>
                    <a:lstStyle/>
                    <a:p>
                      <a:r>
                        <a:rPr lang="en-US" dirty="0" smtClean="0"/>
                        <a:t>ID</a:t>
                      </a:r>
                      <a:endParaRPr lang="en-US" dirty="0"/>
                    </a:p>
                  </a:txBody>
                  <a:tcPr/>
                </a:tc>
              </a:tr>
              <a:tr h="370840">
                <a:tc>
                  <a:txBody>
                    <a:bodyPr/>
                    <a:lstStyle/>
                    <a:p>
                      <a:r>
                        <a:rPr lang="en-US" dirty="0" err="1" smtClean="0"/>
                        <a:t>Reazul</a:t>
                      </a:r>
                      <a:r>
                        <a:rPr lang="en-US" dirty="0" smtClean="0"/>
                        <a:t> Islam</a:t>
                      </a:r>
                      <a:endParaRPr lang="en-US" dirty="0"/>
                    </a:p>
                  </a:txBody>
                  <a:tcPr/>
                </a:tc>
                <a:tc>
                  <a:txBody>
                    <a:bodyPr/>
                    <a:lstStyle/>
                    <a:p>
                      <a:r>
                        <a:rPr lang="en-US" dirty="0" smtClean="0"/>
                        <a:t>2024000000051</a:t>
                      </a:r>
                      <a:endParaRPr lang="en-US" dirty="0"/>
                    </a:p>
                  </a:txBody>
                  <a:tcPr/>
                </a:tc>
              </a:tr>
              <a:tr h="370840">
                <a:tc>
                  <a:txBody>
                    <a:bodyPr/>
                    <a:lstStyle/>
                    <a:p>
                      <a:r>
                        <a:rPr lang="en-US" dirty="0" err="1" smtClean="0"/>
                        <a:t>Humayra</a:t>
                      </a:r>
                      <a:r>
                        <a:rPr lang="en-US" dirty="0" smtClean="0"/>
                        <a:t> </a:t>
                      </a:r>
                      <a:r>
                        <a:rPr lang="en-US" dirty="0" err="1" smtClean="0"/>
                        <a:t>Hasib</a:t>
                      </a:r>
                      <a:r>
                        <a:rPr lang="en-US" dirty="0" smtClean="0"/>
                        <a:t> </a:t>
                      </a:r>
                      <a:r>
                        <a:rPr lang="en-US" dirty="0" err="1" smtClean="0"/>
                        <a:t>Hia</a:t>
                      </a:r>
                      <a:endParaRPr lang="en-US" dirty="0"/>
                    </a:p>
                  </a:txBody>
                  <a:tcPr/>
                </a:tc>
                <a:tc>
                  <a:txBody>
                    <a:bodyPr/>
                    <a:lstStyle/>
                    <a:p>
                      <a:r>
                        <a:rPr lang="en-US" dirty="0" smtClean="0"/>
                        <a:t>2024000000076</a:t>
                      </a:r>
                      <a:endParaRPr lang="en-US" dirty="0"/>
                    </a:p>
                  </a:txBody>
                  <a:tcPr/>
                </a:tc>
              </a:tr>
              <a:tr h="370840">
                <a:tc>
                  <a:txBody>
                    <a:bodyPr/>
                    <a:lstStyle/>
                    <a:p>
                      <a:r>
                        <a:rPr lang="en-US" dirty="0" err="1" smtClean="0"/>
                        <a:t>Samia</a:t>
                      </a:r>
                      <a:r>
                        <a:rPr lang="en-US" dirty="0" smtClean="0"/>
                        <a:t> Islam</a:t>
                      </a:r>
                      <a:endParaRPr lang="en-US" dirty="0"/>
                    </a:p>
                  </a:txBody>
                  <a:tcPr/>
                </a:tc>
                <a:tc>
                  <a:txBody>
                    <a:bodyPr/>
                    <a:lstStyle/>
                    <a:p>
                      <a:r>
                        <a:rPr lang="en-US" dirty="0" smtClean="0"/>
                        <a:t>2024100000357</a:t>
                      </a:r>
                      <a:endParaRPr lang="en-US" dirty="0"/>
                    </a:p>
                  </a:txBody>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838200"/>
            <a:ext cx="7406640" cy="609600"/>
          </a:xfrm>
        </p:spPr>
        <p:txBody>
          <a:bodyPr>
            <a:normAutofit fontScale="90000"/>
          </a:bodyPr>
          <a:lstStyle/>
          <a:p>
            <a:pPr algn="ctr"/>
            <a:r>
              <a:rPr lang="en-US" sz="4400" b="1" dirty="0" smtClean="0"/>
              <a:t>Table of Content</a:t>
            </a:r>
            <a:endParaRPr lang="en-US" sz="4400" b="1" dirty="0"/>
          </a:p>
        </p:txBody>
      </p:sp>
      <p:sp>
        <p:nvSpPr>
          <p:cNvPr id="3" name="Title 1"/>
          <p:cNvSpPr txBox="1"/>
          <p:nvPr/>
        </p:nvSpPr>
        <p:spPr>
          <a:xfrm>
            <a:off x="1447800" y="1600200"/>
            <a:ext cx="7406640" cy="3810000"/>
          </a:xfrm>
          <a:prstGeom prst="rect">
            <a:avLst/>
          </a:prstGeom>
        </p:spPr>
        <p:txBody>
          <a:bodyPr anchor="b">
            <a:no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pPr marL="342900" indent="-342900" algn="just">
              <a:buFont typeface="Wingdings" panose="05000000000000000000" pitchFamily="2" charset="2"/>
              <a:buChar char="q"/>
            </a:pPr>
            <a:r>
              <a:rPr lang="en-US" sz="2000" b="1" dirty="0" smtClean="0"/>
              <a:t>Introduction</a:t>
            </a:r>
            <a:endParaRPr lang="en-US" sz="2000" b="1" dirty="0" smtClean="0"/>
          </a:p>
          <a:p>
            <a:pPr marL="342900" indent="-342900" algn="just">
              <a:buFont typeface="Wingdings" panose="05000000000000000000" pitchFamily="2" charset="2"/>
              <a:buChar char="q"/>
            </a:pPr>
            <a:r>
              <a:rPr lang="en-US" sz="2000" b="1" dirty="0" smtClean="0"/>
              <a:t>Variable</a:t>
            </a:r>
            <a:endParaRPr lang="en-US" sz="2000" b="1" dirty="0" smtClean="0"/>
          </a:p>
          <a:p>
            <a:pPr marL="342900" indent="-342900" algn="just">
              <a:buFont typeface="Wingdings" panose="05000000000000000000" pitchFamily="2" charset="2"/>
              <a:buChar char="q"/>
            </a:pPr>
            <a:r>
              <a:rPr lang="en-US" sz="2000" b="1" dirty="0" smtClean="0"/>
              <a:t>Data Collection Method</a:t>
            </a:r>
            <a:endParaRPr lang="en-US" sz="2000" b="1" dirty="0" smtClean="0"/>
          </a:p>
          <a:p>
            <a:pPr marL="342900" indent="-342900" algn="just">
              <a:buFont typeface="Wingdings" panose="05000000000000000000" pitchFamily="2" charset="2"/>
              <a:buChar char="q"/>
            </a:pPr>
            <a:r>
              <a:rPr lang="en-US" sz="2000" b="1" dirty="0" smtClean="0"/>
              <a:t>What kind of Data we’ve collected?</a:t>
            </a:r>
            <a:endParaRPr lang="en-US" sz="2000" b="1" dirty="0" smtClean="0"/>
          </a:p>
          <a:p>
            <a:pPr marL="342900" indent="-342900" algn="just">
              <a:buFont typeface="Wingdings" panose="05000000000000000000" pitchFamily="2" charset="2"/>
              <a:buChar char="q"/>
            </a:pPr>
            <a:r>
              <a:rPr lang="en-US" sz="2000" b="1" dirty="0" smtClean="0"/>
              <a:t>Graphical Representation</a:t>
            </a:r>
            <a:endParaRPr lang="en-US" sz="2000" b="1" dirty="0" smtClean="0"/>
          </a:p>
          <a:p>
            <a:pPr marL="342900" indent="-342900" algn="just">
              <a:buFont typeface="Wingdings" panose="05000000000000000000" pitchFamily="2" charset="2"/>
              <a:buChar char="q"/>
            </a:pPr>
            <a:r>
              <a:rPr lang="en-US" sz="2000" b="1" dirty="0" smtClean="0"/>
              <a:t>Conclusion</a:t>
            </a:r>
            <a:endParaRPr lang="en-US" sz="2000" b="1" dirty="0" smtClean="0"/>
          </a:p>
          <a:p>
            <a:pPr marL="342900" indent="-342900" algn="just">
              <a:buFont typeface="Wingdings" panose="05000000000000000000" pitchFamily="2" charset="2"/>
              <a:buChar char="q"/>
            </a:pPr>
            <a:endParaRPr lang="en-US" sz="2000" b="1" dirty="0" smtClean="0"/>
          </a:p>
          <a:p>
            <a:pPr marL="342900" indent="-342900" algn="just">
              <a:buFont typeface="Wingdings" panose="05000000000000000000" pitchFamily="2" charset="2"/>
              <a:buChar char="q"/>
            </a:pP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838200"/>
            <a:ext cx="7406640" cy="609600"/>
          </a:xfrm>
        </p:spPr>
        <p:txBody>
          <a:bodyPr>
            <a:normAutofit fontScale="90000"/>
          </a:bodyPr>
          <a:lstStyle/>
          <a:p>
            <a:pPr algn="ctr"/>
            <a:r>
              <a:rPr lang="en-US" sz="4400" b="1" dirty="0" smtClean="0"/>
              <a:t>Introduction</a:t>
            </a:r>
            <a:endParaRPr lang="en-US" sz="4400" b="1" dirty="0"/>
          </a:p>
        </p:txBody>
      </p:sp>
      <p:sp>
        <p:nvSpPr>
          <p:cNvPr id="3" name="Title 1"/>
          <p:cNvSpPr txBox="1"/>
          <p:nvPr/>
        </p:nvSpPr>
        <p:spPr>
          <a:xfrm>
            <a:off x="1447800" y="1600200"/>
            <a:ext cx="7406640" cy="3810000"/>
          </a:xfrm>
          <a:prstGeom prst="rect">
            <a:avLst/>
          </a:prstGeom>
        </p:spPr>
        <p:txBody>
          <a:bodyPr anchor="b">
            <a:no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pPr algn="just"/>
            <a:r>
              <a:rPr lang="en-US" sz="2800" dirty="0"/>
              <a:t>Air pollution is one of the major environmental problems in urban areas, causing serious threats to human health. Rapid urbanization, increased vehicle use, dust, and different types of smoke have significantly degraded air quality. This study aims to examine the health problems caused by air pollution and identify the major pollution sources affecting people’s daily lives</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838200"/>
            <a:ext cx="7406640" cy="609600"/>
          </a:xfrm>
        </p:spPr>
        <p:txBody>
          <a:bodyPr>
            <a:normAutofit fontScale="90000"/>
          </a:bodyPr>
          <a:lstStyle/>
          <a:p>
            <a:pPr algn="ctr"/>
            <a:r>
              <a:rPr lang="en-US" sz="4400" b="1" dirty="0" smtClean="0"/>
              <a:t>Variables</a:t>
            </a:r>
            <a:endParaRPr lang="en-US" sz="4400" b="1" dirty="0"/>
          </a:p>
        </p:txBody>
      </p:sp>
      <p:sp>
        <p:nvSpPr>
          <p:cNvPr id="3" name="Title 1"/>
          <p:cNvSpPr txBox="1"/>
          <p:nvPr/>
        </p:nvSpPr>
        <p:spPr>
          <a:xfrm>
            <a:off x="1447800" y="1600200"/>
            <a:ext cx="7406640" cy="4572000"/>
          </a:xfrm>
          <a:prstGeom prst="rect">
            <a:avLst/>
          </a:prstGeom>
        </p:spPr>
        <p:txBody>
          <a:bodyPr anchor="b">
            <a:no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pPr algn="just"/>
            <a:r>
              <a:rPr lang="en-US" sz="2800" b="1" dirty="0" smtClean="0"/>
              <a:t>Dependent Variable</a:t>
            </a:r>
            <a:endParaRPr lang="en-US" sz="2800" b="1" dirty="0" smtClean="0"/>
          </a:p>
          <a:p>
            <a:pPr marL="457200" indent="-457200" algn="just">
              <a:buFont typeface="Arial" panose="020B0604020202020204" pitchFamily="34" charset="0"/>
              <a:buChar char="•"/>
            </a:pPr>
            <a:r>
              <a:rPr lang="en-US" sz="2800" dirty="0" smtClean="0"/>
              <a:t>Respiratory Health Problem</a:t>
            </a:r>
            <a:endParaRPr lang="en-US" sz="2800" dirty="0" smtClean="0"/>
          </a:p>
          <a:p>
            <a:pPr marL="457200" indent="-457200" algn="just">
              <a:buFont typeface="Arial" panose="020B0604020202020204" pitchFamily="34" charset="0"/>
              <a:buChar char="•"/>
            </a:pPr>
            <a:endParaRPr lang="en-US" sz="2800" dirty="0"/>
          </a:p>
          <a:p>
            <a:pPr algn="just"/>
            <a:r>
              <a:rPr lang="en-US" sz="2800" b="1" dirty="0" smtClean="0"/>
              <a:t>Independent Variable</a:t>
            </a:r>
            <a:endParaRPr lang="en-US" sz="2800" b="1" dirty="0" smtClean="0"/>
          </a:p>
          <a:p>
            <a:pPr marL="457200" indent="-457200" algn="just">
              <a:buFont typeface="Arial" panose="020B0604020202020204" pitchFamily="34" charset="0"/>
              <a:buChar char="•"/>
            </a:pPr>
            <a:r>
              <a:rPr lang="en-US" sz="2800" dirty="0" smtClean="0"/>
              <a:t>Cooking Fuel</a:t>
            </a:r>
            <a:endParaRPr lang="en-US" sz="2800" dirty="0" smtClean="0"/>
          </a:p>
          <a:p>
            <a:pPr marL="457200" indent="-457200" algn="just">
              <a:buFont typeface="Arial" panose="020B0604020202020204" pitchFamily="34" charset="0"/>
              <a:buChar char="•"/>
            </a:pPr>
            <a:r>
              <a:rPr lang="en-US" sz="2800" dirty="0" smtClean="0"/>
              <a:t>Cooking Stove</a:t>
            </a:r>
            <a:endParaRPr lang="en-US" sz="2800" dirty="0" smtClean="0"/>
          </a:p>
          <a:p>
            <a:pPr marL="457200" indent="-457200" algn="just">
              <a:buFont typeface="Arial" panose="020B0604020202020204" pitchFamily="34" charset="0"/>
              <a:buChar char="•"/>
            </a:pPr>
            <a:r>
              <a:rPr lang="en-US" sz="2800" dirty="0" smtClean="0"/>
              <a:t>Ventilation in Kitchen</a:t>
            </a:r>
            <a:endParaRPr lang="en-US" sz="2800" dirty="0" smtClean="0"/>
          </a:p>
          <a:p>
            <a:pPr marL="457200" indent="-457200" algn="just">
              <a:buFont typeface="Arial" panose="020B0604020202020204" pitchFamily="34" charset="0"/>
              <a:buChar char="•"/>
            </a:pPr>
            <a:r>
              <a:rPr lang="en-US" sz="2800" dirty="0" smtClean="0"/>
              <a:t>Cooking Exposure time</a:t>
            </a:r>
            <a:endParaRPr lang="en-US" sz="2800" dirty="0" smtClean="0"/>
          </a:p>
          <a:p>
            <a:pPr marL="457200" indent="-457200" algn="just">
              <a:buFont typeface="Arial" panose="020B0604020202020204" pitchFamily="34" charset="0"/>
              <a:buChar char="•"/>
            </a:pPr>
            <a:r>
              <a:rPr lang="en-US" sz="2800" dirty="0" smtClean="0"/>
              <a:t>Road proximity.</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838200"/>
            <a:ext cx="7406640" cy="609600"/>
          </a:xfrm>
        </p:spPr>
        <p:txBody>
          <a:bodyPr>
            <a:normAutofit fontScale="90000"/>
          </a:bodyPr>
          <a:lstStyle/>
          <a:p>
            <a:pPr algn="ctr"/>
            <a:r>
              <a:rPr lang="en-US" sz="4400" b="1" dirty="0" smtClean="0"/>
              <a:t>Data Collection Method</a:t>
            </a:r>
            <a:endParaRPr lang="en-US" sz="4400" b="1" dirty="0"/>
          </a:p>
        </p:txBody>
      </p:sp>
      <p:sp>
        <p:nvSpPr>
          <p:cNvPr id="3" name="Title 1"/>
          <p:cNvSpPr txBox="1"/>
          <p:nvPr/>
        </p:nvSpPr>
        <p:spPr>
          <a:xfrm>
            <a:off x="1447800" y="1600200"/>
            <a:ext cx="7406640" cy="3147060"/>
          </a:xfrm>
          <a:prstGeom prst="rect">
            <a:avLst/>
          </a:prstGeom>
        </p:spPr>
        <p:txBody>
          <a:bodyPr anchor="b">
            <a:no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pPr marL="514350" indent="-514350" algn="just">
              <a:buFont typeface="+mj-lt"/>
              <a:buAutoNum type="arabicPeriod"/>
            </a:pPr>
            <a:r>
              <a:rPr lang="en-US" sz="2400" dirty="0" smtClean="0"/>
              <a:t>Study : Cross-Sectional study</a:t>
            </a:r>
            <a:endParaRPr lang="en-US" sz="2400" dirty="0" smtClean="0"/>
          </a:p>
          <a:p>
            <a:pPr marL="514350" indent="-514350">
              <a:buFont typeface="+mj-lt"/>
              <a:buAutoNum type="arabicPeriod"/>
            </a:pPr>
            <a:r>
              <a:rPr lang="en-US" sz="2400" dirty="0" smtClean="0"/>
              <a:t>Target population : Affected people in Respiratory Problem</a:t>
            </a:r>
            <a:endParaRPr lang="en-US" sz="2400" dirty="0" smtClean="0"/>
          </a:p>
          <a:p>
            <a:pPr marL="514350" indent="-514350">
              <a:buFont typeface="+mj-lt"/>
              <a:buAutoNum type="arabicPeriod"/>
            </a:pPr>
            <a:r>
              <a:rPr lang="en-US" sz="2400" dirty="0" smtClean="0"/>
              <a:t>Sampling Technique : Random</a:t>
            </a:r>
            <a:endParaRPr lang="en-US" sz="2400" dirty="0" smtClean="0"/>
          </a:p>
          <a:p>
            <a:pPr marL="514350" indent="-514350">
              <a:buFont typeface="+mj-lt"/>
              <a:buAutoNum type="arabicPeriod"/>
            </a:pPr>
            <a:r>
              <a:rPr lang="en-US" sz="2400" dirty="0" smtClean="0"/>
              <a:t>Data Collection Technique : Face-to-Face (through </a:t>
            </a:r>
            <a:r>
              <a:rPr lang="en-US" sz="2400" dirty="0"/>
              <a:t>G</a:t>
            </a:r>
            <a:r>
              <a:rPr lang="en-US" sz="2400" dirty="0" smtClean="0"/>
              <a:t>oogle form)</a:t>
            </a:r>
            <a:endParaRPr lang="en-US" sz="2400"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838200"/>
            <a:ext cx="7406640" cy="609600"/>
          </a:xfrm>
        </p:spPr>
        <p:txBody>
          <a:bodyPr>
            <a:normAutofit fontScale="90000"/>
          </a:bodyPr>
          <a:lstStyle/>
          <a:p>
            <a:pPr algn="ctr"/>
            <a:r>
              <a:rPr lang="en-US" sz="4400" b="1" dirty="0" smtClean="0"/>
              <a:t>What kind of Date we have Collected?</a:t>
            </a:r>
            <a:endParaRPr lang="en-US" sz="4400" b="1" dirty="0"/>
          </a:p>
        </p:txBody>
      </p:sp>
      <p:sp>
        <p:nvSpPr>
          <p:cNvPr id="3" name="Title 1"/>
          <p:cNvSpPr txBox="1"/>
          <p:nvPr/>
        </p:nvSpPr>
        <p:spPr>
          <a:xfrm>
            <a:off x="1447800" y="1600200"/>
            <a:ext cx="7406640" cy="4572000"/>
          </a:xfrm>
          <a:prstGeom prst="rect">
            <a:avLst/>
          </a:prstGeom>
        </p:spPr>
        <p:txBody>
          <a:bodyPr anchor="b">
            <a:no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pPr algn="just"/>
            <a:r>
              <a:rPr lang="en-US" sz="2400" u="sng" dirty="0" smtClean="0"/>
              <a:t>General</a:t>
            </a:r>
            <a:endParaRPr lang="en-US" sz="2400" u="sng" dirty="0" smtClean="0"/>
          </a:p>
          <a:p>
            <a:pPr marL="342900" indent="-342900" algn="just">
              <a:buFont typeface="Arial" panose="020B0604020202020204" pitchFamily="34" charset="0"/>
              <a:buChar char="•"/>
            </a:pPr>
            <a:r>
              <a:rPr lang="en-US" sz="2400" dirty="0" smtClean="0"/>
              <a:t>Number or e-mail</a:t>
            </a:r>
            <a:endParaRPr lang="en-US" sz="2400" dirty="0" smtClean="0"/>
          </a:p>
          <a:p>
            <a:pPr marL="342900" indent="-342900" algn="just">
              <a:buFont typeface="Arial" panose="020B0604020202020204" pitchFamily="34" charset="0"/>
              <a:buChar char="•"/>
            </a:pPr>
            <a:r>
              <a:rPr lang="en-US" sz="2400" dirty="0" smtClean="0"/>
              <a:t>Male of Female</a:t>
            </a:r>
            <a:endParaRPr lang="en-US" sz="2400" dirty="0" smtClean="0"/>
          </a:p>
          <a:p>
            <a:pPr marL="342900" indent="-342900" algn="just">
              <a:buFont typeface="Arial" panose="020B0604020202020204" pitchFamily="34" charset="0"/>
              <a:buChar char="•"/>
            </a:pPr>
            <a:r>
              <a:rPr lang="en-US" sz="2400" dirty="0" smtClean="0"/>
              <a:t>Age group</a:t>
            </a:r>
            <a:endParaRPr lang="en-US" sz="2400" dirty="0" smtClean="0"/>
          </a:p>
          <a:p>
            <a:pPr marL="342900" indent="-342900" algn="just">
              <a:buFont typeface="Arial" panose="020B0604020202020204" pitchFamily="34" charset="0"/>
              <a:buChar char="•"/>
            </a:pPr>
            <a:r>
              <a:rPr lang="en-US" sz="2400" dirty="0" smtClean="0"/>
              <a:t>Living area</a:t>
            </a:r>
            <a:endParaRPr lang="en-US" sz="2400" dirty="0" smtClean="0"/>
          </a:p>
          <a:p>
            <a:pPr marL="342900" indent="-342900" algn="just">
              <a:buFont typeface="Arial" panose="020B0604020202020204" pitchFamily="34" charset="0"/>
              <a:buChar char="•"/>
            </a:pPr>
            <a:endParaRPr lang="en-US" sz="2400" dirty="0"/>
          </a:p>
          <a:p>
            <a:pPr algn="just"/>
            <a:r>
              <a:rPr lang="en-US" sz="2400" u="sng" dirty="0" smtClean="0"/>
              <a:t>Important</a:t>
            </a:r>
            <a:endParaRPr lang="en-US" sz="2400" u="sng" dirty="0" smtClean="0"/>
          </a:p>
          <a:p>
            <a:pPr algn="just"/>
            <a:r>
              <a:rPr lang="en-US" sz="2400" dirty="0" smtClean="0"/>
              <a:t>Do you or your household member suffering from any types of respiratory health problem?</a:t>
            </a:r>
            <a:endParaRPr lang="en-US" sz="2400"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47800" y="1600200"/>
            <a:ext cx="7406640" cy="3124200"/>
          </a:xfrm>
          <a:prstGeom prst="rect">
            <a:avLst/>
          </a:prstGeom>
        </p:spPr>
        <p:txBody>
          <a:bodyPr anchor="b">
            <a:no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pPr algn="just"/>
            <a:r>
              <a:rPr lang="en-US" sz="2400" u="sng" dirty="0" smtClean="0"/>
              <a:t>Data of Independent Variable</a:t>
            </a:r>
            <a:endParaRPr lang="en-US" sz="2400" u="sng" dirty="0" smtClean="0"/>
          </a:p>
          <a:p>
            <a:pPr marL="457200" indent="-457200" algn="just">
              <a:buFont typeface="+mj-lt"/>
              <a:buAutoNum type="arabicPeriod"/>
            </a:pPr>
            <a:r>
              <a:rPr lang="en-US" sz="2400" dirty="0" smtClean="0"/>
              <a:t>Types of fuel they are using</a:t>
            </a:r>
            <a:endParaRPr lang="en-US" sz="2400" dirty="0" smtClean="0"/>
          </a:p>
          <a:p>
            <a:pPr marL="457200" indent="-457200" algn="just">
              <a:buFont typeface="+mj-lt"/>
              <a:buAutoNum type="arabicPeriod"/>
            </a:pPr>
            <a:r>
              <a:rPr lang="en-US" sz="2400" dirty="0" smtClean="0"/>
              <a:t>Types of stove they are using</a:t>
            </a:r>
            <a:endParaRPr lang="en-US" sz="2400" dirty="0" smtClean="0"/>
          </a:p>
          <a:p>
            <a:pPr marL="457200" indent="-457200" algn="just">
              <a:buFont typeface="+mj-lt"/>
              <a:buAutoNum type="arabicPeriod"/>
            </a:pPr>
            <a:r>
              <a:rPr lang="en-US" sz="2400" dirty="0" smtClean="0"/>
              <a:t>If they are having ventilation in their kitchen</a:t>
            </a:r>
            <a:endParaRPr lang="en-US" sz="2400" dirty="0" smtClean="0"/>
          </a:p>
          <a:p>
            <a:pPr marL="457200" indent="-457200" algn="just">
              <a:buFont typeface="+mj-lt"/>
              <a:buAutoNum type="arabicPeriod"/>
            </a:pPr>
            <a:r>
              <a:rPr lang="en-US" sz="2400" dirty="0" smtClean="0"/>
              <a:t>Their total cooking smoke exposure time</a:t>
            </a:r>
            <a:endParaRPr lang="en-US" sz="2400" dirty="0" smtClean="0"/>
          </a:p>
          <a:p>
            <a:pPr marL="457200" indent="-457200" algn="just">
              <a:buFont typeface="+mj-lt"/>
              <a:buAutoNum type="arabicPeriod"/>
            </a:pPr>
            <a:r>
              <a:rPr lang="en-US" sz="2400" dirty="0" smtClean="0"/>
              <a:t>If they are living near of a busy road or not.</a:t>
            </a:r>
            <a:endParaRPr lang="en-US" sz="2400"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01319" y="3048000"/>
            <a:ext cx="5334000" cy="1981200"/>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1524000"/>
            <a:ext cx="4407855" cy="15240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5673" y="4876800"/>
            <a:ext cx="4455527" cy="1447800"/>
          </a:xfrm>
          <a:prstGeom prst="rect">
            <a:avLst/>
          </a:prstGeom>
        </p:spPr>
      </p:pic>
      <p:sp>
        <p:nvSpPr>
          <p:cNvPr id="6" name="Title 1"/>
          <p:cNvSpPr>
            <a:spLocks noGrp="1"/>
          </p:cNvSpPr>
          <p:nvPr>
            <p:ph type="ctrTitle"/>
          </p:nvPr>
        </p:nvSpPr>
        <p:spPr>
          <a:xfrm>
            <a:off x="1432560" y="228600"/>
            <a:ext cx="7406640" cy="1219200"/>
          </a:xfrm>
        </p:spPr>
        <p:txBody>
          <a:bodyPr>
            <a:normAutofit/>
          </a:bodyPr>
          <a:lstStyle/>
          <a:p>
            <a:pPr algn="ctr"/>
            <a:r>
              <a:rPr lang="en-US" sz="4400" b="1" dirty="0" smtClean="0"/>
              <a:t>Graphical representation</a:t>
            </a:r>
            <a:endParaRPr lang="en-US" sz="4400" b="1" dirty="0"/>
          </a:p>
        </p:txBody>
      </p:sp>
      <p:sp>
        <p:nvSpPr>
          <p:cNvPr id="9" name="Left Arrow 8"/>
          <p:cNvSpPr/>
          <p:nvPr/>
        </p:nvSpPr>
        <p:spPr>
          <a:xfrm>
            <a:off x="6096000" y="1676400"/>
            <a:ext cx="1752600" cy="914400"/>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Stove</a:t>
            </a:r>
            <a:endParaRPr lang="en-US" dirty="0"/>
          </a:p>
        </p:txBody>
      </p:sp>
      <p:sp>
        <p:nvSpPr>
          <p:cNvPr id="10" name="Left Arrow 9"/>
          <p:cNvSpPr/>
          <p:nvPr/>
        </p:nvSpPr>
        <p:spPr>
          <a:xfrm>
            <a:off x="6096000" y="3581400"/>
            <a:ext cx="1752600" cy="914400"/>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Fuel</a:t>
            </a:r>
            <a:endParaRPr lang="en-US" dirty="0"/>
          </a:p>
        </p:txBody>
      </p:sp>
      <p:sp>
        <p:nvSpPr>
          <p:cNvPr id="11" name="Left Arrow 10"/>
          <p:cNvSpPr/>
          <p:nvPr/>
        </p:nvSpPr>
        <p:spPr>
          <a:xfrm>
            <a:off x="6096000" y="5029200"/>
            <a:ext cx="1752600" cy="914400"/>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Ventilation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1432560" y="228600"/>
            <a:ext cx="7406640" cy="1219200"/>
          </a:xfrm>
        </p:spPr>
        <p:txBody>
          <a:bodyPr>
            <a:normAutofit/>
          </a:bodyPr>
          <a:lstStyle/>
          <a:p>
            <a:pPr algn="ctr"/>
            <a:r>
              <a:rPr lang="en-US" sz="4400" b="1" dirty="0" smtClean="0"/>
              <a:t>Graphical representation</a:t>
            </a:r>
            <a:endParaRPr lang="en-US" sz="4400" b="1"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10557" y="1371600"/>
            <a:ext cx="3531833" cy="1722133"/>
          </a:xfrm>
          <a:prstGeom prst="rect">
            <a:avLst/>
          </a:prstGeom>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3042034"/>
            <a:ext cx="3581400" cy="1834766"/>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600" y="4880409"/>
            <a:ext cx="3124200" cy="1825191"/>
          </a:xfrm>
          <a:prstGeom prst="rect">
            <a:avLst/>
          </a:prstGeom>
        </p:spPr>
      </p:pic>
      <p:sp>
        <p:nvSpPr>
          <p:cNvPr id="12" name="Left Arrow 11"/>
          <p:cNvSpPr/>
          <p:nvPr/>
        </p:nvSpPr>
        <p:spPr>
          <a:xfrm>
            <a:off x="6364550" y="1626049"/>
            <a:ext cx="2093650" cy="1213234"/>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Cooking Exposure Time</a:t>
            </a:r>
            <a:endParaRPr lang="en-US" dirty="0"/>
          </a:p>
        </p:txBody>
      </p:sp>
      <p:sp>
        <p:nvSpPr>
          <p:cNvPr id="13" name="Left Arrow 12"/>
          <p:cNvSpPr/>
          <p:nvPr/>
        </p:nvSpPr>
        <p:spPr>
          <a:xfrm>
            <a:off x="6364550" y="3352800"/>
            <a:ext cx="2093650" cy="1213234"/>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Road Proximity</a:t>
            </a:r>
            <a:endParaRPr lang="en-US" dirty="0"/>
          </a:p>
        </p:txBody>
      </p:sp>
      <p:sp>
        <p:nvSpPr>
          <p:cNvPr id="14" name="Left Arrow 13"/>
          <p:cNvSpPr/>
          <p:nvPr/>
        </p:nvSpPr>
        <p:spPr>
          <a:xfrm>
            <a:off x="6364550" y="5186387"/>
            <a:ext cx="2093650" cy="1213234"/>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Respiratory Problem Rate</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1432560" y="228600"/>
            <a:ext cx="7406640" cy="1219200"/>
          </a:xfrm>
        </p:spPr>
        <p:txBody>
          <a:bodyPr>
            <a:normAutofit/>
          </a:bodyPr>
          <a:lstStyle/>
          <a:p>
            <a:pPr algn="ctr"/>
            <a:r>
              <a:rPr lang="en-US" sz="4400" b="1" dirty="0" smtClean="0"/>
              <a:t>Conclusion</a:t>
            </a:r>
            <a:endParaRPr lang="en-US" sz="4400" b="1" dirty="0"/>
          </a:p>
        </p:txBody>
      </p:sp>
      <p:sp>
        <p:nvSpPr>
          <p:cNvPr id="9" name="Title 1"/>
          <p:cNvSpPr txBox="1"/>
          <p:nvPr/>
        </p:nvSpPr>
        <p:spPr>
          <a:xfrm>
            <a:off x="1447800" y="1600200"/>
            <a:ext cx="7406640" cy="3124200"/>
          </a:xfrm>
          <a:prstGeom prst="rect">
            <a:avLst/>
          </a:prstGeom>
        </p:spPr>
        <p:txBody>
          <a:bodyPr anchor="b">
            <a:no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lstStyle>
          <a:p>
            <a:pPr algn="just"/>
            <a:r>
              <a:rPr lang="en-US" sz="2400" u="sng" dirty="0" smtClean="0"/>
              <a:t>We prove that :</a:t>
            </a:r>
            <a:endParaRPr lang="en-US" sz="2400" u="sng" dirty="0" smtClean="0"/>
          </a:p>
          <a:p>
            <a:pPr marL="342900" indent="-342900" algn="just">
              <a:buFont typeface="Wingdings" panose="05000000000000000000" pitchFamily="2" charset="2"/>
              <a:buChar char="Ø"/>
            </a:pPr>
            <a:r>
              <a:rPr lang="en-US" sz="2400" dirty="0" smtClean="0"/>
              <a:t>Cooking smoke make our lungs hurt.</a:t>
            </a:r>
            <a:endParaRPr lang="en-US" sz="2400" dirty="0" smtClean="0"/>
          </a:p>
          <a:p>
            <a:pPr marL="342900" indent="-342900" algn="just">
              <a:buFont typeface="Wingdings" panose="05000000000000000000" pitchFamily="2" charset="2"/>
              <a:buChar char="Ø"/>
            </a:pPr>
            <a:r>
              <a:rPr lang="en-US" sz="2400" dirty="0" smtClean="0"/>
              <a:t>The longer you stay in smoke, the sicker you get.</a:t>
            </a:r>
            <a:endParaRPr lang="en-US" sz="2400" dirty="0" smtClean="0"/>
          </a:p>
          <a:p>
            <a:pPr marL="342900" indent="-342900" algn="just">
              <a:buFont typeface="Wingdings" panose="05000000000000000000" pitchFamily="2" charset="2"/>
              <a:buChar char="Ø"/>
            </a:pPr>
            <a:r>
              <a:rPr lang="en-US" sz="2400" dirty="0" smtClean="0"/>
              <a:t>Switch to clean fuel like electricity.</a:t>
            </a:r>
            <a:endParaRPr lang="en-US" sz="2400" dirty="0" smtClean="0"/>
          </a:p>
          <a:p>
            <a:pPr marL="342900" indent="-342900" algn="just">
              <a:buFont typeface="Wingdings" panose="05000000000000000000" pitchFamily="2" charset="2"/>
              <a:buChar char="Ø"/>
            </a:pPr>
            <a:r>
              <a:rPr lang="en-US" sz="2400" dirty="0" smtClean="0"/>
              <a:t>Let air the bad air out and fresh air in through window.</a:t>
            </a:r>
            <a:endParaRPr lang="en-US" sz="2400" dirty="0" smtClean="0"/>
          </a:p>
          <a:p>
            <a:pPr marL="342900" indent="-342900" algn="just">
              <a:buFont typeface="Wingdings" panose="05000000000000000000" pitchFamily="2" charset="2"/>
              <a:buChar char="Ø"/>
            </a:pPr>
            <a:r>
              <a:rPr lang="en-US" sz="2400" dirty="0" smtClean="0"/>
              <a:t>Spend less time directly in the cooking smoke.</a:t>
            </a:r>
            <a:endParaRPr lang="en-US" sz="2400" dirty="0" smtClean="0"/>
          </a:p>
          <a:p>
            <a:pPr marL="342900" indent="-342900" algn="just">
              <a:buFont typeface="Wingdings" panose="05000000000000000000" pitchFamily="2" charset="2"/>
              <a:buChar char="Ø"/>
            </a:pPr>
            <a:endParaRPr lang="en-US" sz="2400"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1432560" y="2135505"/>
            <a:ext cx="7406640" cy="1903095"/>
          </a:xfrm>
        </p:spPr>
        <p:txBody>
          <a:bodyPr>
            <a:normAutofit fontScale="90000"/>
          </a:bodyPr>
          <a:lstStyle/>
          <a:p>
            <a:pPr algn="ctr"/>
            <a:br>
              <a:rPr lang="en-US" sz="4400" b="1" dirty="0" smtClean="0"/>
            </a:br>
            <a:br>
              <a:rPr lang="en-US" sz="4400" b="1" dirty="0" smtClean="0"/>
            </a:br>
            <a:br>
              <a:rPr lang="en-US" sz="4400" b="1" dirty="0" smtClean="0"/>
            </a:br>
            <a:br>
              <a:rPr lang="en-US" sz="4400" b="1" dirty="0" smtClean="0"/>
            </a:br>
            <a:r>
              <a:rPr lang="en-US" sz="4400" b="1" dirty="0" smtClean="0"/>
              <a:t>Thank You !</a:t>
            </a:r>
            <a:br>
              <a:rPr lang="en-US" sz="4400" b="1" dirty="0" smtClean="0"/>
            </a:br>
            <a:br>
              <a:rPr lang="en-US" sz="4400" b="1" dirty="0"/>
            </a:br>
            <a:endParaRPr lang="en-US" sz="4400" b="1"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0</TotalTime>
  <Words>1816</Words>
  <Application>WPS Presentation</Application>
  <PresentationFormat>On-screen Show (4:3)</PresentationFormat>
  <Paragraphs>100</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vt:lpstr>
      <vt:lpstr>SimSun</vt:lpstr>
      <vt:lpstr>Wingdings</vt:lpstr>
      <vt:lpstr>Wingdings 2</vt:lpstr>
      <vt:lpstr>Verdana</vt:lpstr>
      <vt:lpstr>Gill Sans MT</vt:lpstr>
      <vt:lpstr>Microsoft YaHei</vt:lpstr>
      <vt:lpstr>Arial Unicode MS</vt:lpstr>
      <vt:lpstr>Calibri</vt:lpstr>
      <vt:lpstr>Solstice</vt:lpstr>
      <vt:lpstr>Welcome!  Air Pollution causes Respiratory Health Problem.</vt:lpstr>
      <vt:lpstr>Our Team</vt:lpstr>
      <vt:lpstr>Table of Content</vt:lpstr>
      <vt:lpstr>Introduction</vt:lpstr>
      <vt:lpstr>Variables</vt:lpstr>
      <vt:lpstr>Data Collection Method</vt:lpstr>
      <vt:lpstr>What kind of Date we have Collected?</vt:lpstr>
      <vt:lpstr>PowerPoint 演示文稿</vt:lpstr>
      <vt:lpstr>Graphical representation</vt:lpstr>
      <vt:lpstr>Graphical representation</vt:lpstr>
      <vt:lpstr>Conclusion</vt:lpstr>
      <vt:lpstr>Thank You !  Any question?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Pollution causes Respiratory Health Problem.</dc:title>
  <dc:creator>user</dc:creator>
  <cp:lastModifiedBy>user</cp:lastModifiedBy>
  <cp:revision>17</cp:revision>
  <dcterms:created xsi:type="dcterms:W3CDTF">2026-01-20T19:03:00Z</dcterms:created>
  <dcterms:modified xsi:type="dcterms:W3CDTF">2026-01-20T20:12:39Z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2D06095D18554A0ABC4CA08AA4056EFC_12</vt:lpwstr>
  </property>
  <property fmtid="{D5CDD505-2E9C-101B-9397-08002B2CF9AE}" pid="3" name="KSOProductBuildVer">
    <vt:lpwstr>1033-12.2.0.23196</vt:lpwstr>
  </property>
</Properties>
</file>